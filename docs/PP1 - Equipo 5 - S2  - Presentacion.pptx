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CONECTIVIDAD Y DINÁMICA AEROCOMERCIAL EN EL TURISMO ARGENTINO (2017–2025)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698480" cy="2926080"/>
          </a:xfrm>
          <a:prstGeom prst="roundRect">
            <a:avLst/>
          </a:prstGeom>
          <a:solidFill>
            <a:srgbClr val="F4F7F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12B55"/>
                </a:solidFill>
                <a:latin typeface="Arial"/>
              </a:defRPr>
            </a:pPr>
            <a:r>
              <a:t>Idea Central del Análisis (2017–2025):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• Las cifras de récord del avión esconden que la red aérea argentina está armada para ir y volver de Buenos Aires, no para recorrer el país.</a:t>
            </a:r>
            <a:br/>
            <a:r>
              <a:t>• Cuando se mira solo el total de pasajeros, sigue en crecimiento (récord en 2025 con 17,3 millones en cabotaje). Pero cuando se separa por cuándo, adónde y por qué ruta se vuela, aparece un desajuste significativo con el turismo interno.</a:t>
            </a:r>
            <a:br/>
            <a:r>
              <a:t>• Ese número total sube aunque las rutas entre provincias bajen, porque los vuelos internacionales y los que pasan por Buenos Aires crecen más.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Panorama General: Volar </a:t>
            </a:r>
            <a:r>
              <a:rPr dirty="0" err="1"/>
              <a:t>dentro</a:t>
            </a:r>
            <a:r>
              <a:rPr dirty="0"/>
              <a:t> de Argentina (2017–2025)</a:t>
            </a:r>
          </a:p>
          <a:p>
            <a:pPr>
              <a:defRPr sz="1200">
                <a:solidFill>
                  <a:srgbClr val="C8DCFF"/>
                </a:solidFill>
                <a:latin typeface="Arial"/>
              </a:defRPr>
            </a:pPr>
            <a:r>
              <a:rPr dirty="0"/>
              <a:t>Datos </a:t>
            </a:r>
            <a:r>
              <a:rPr dirty="0" err="1"/>
              <a:t>consolidados</a:t>
            </a:r>
            <a:r>
              <a:rPr dirty="0"/>
              <a:t> de ANAC y </a:t>
            </a:r>
            <a:r>
              <a:rPr dirty="0" err="1"/>
              <a:t>EVyTH</a:t>
            </a:r>
            <a:r>
              <a:rPr dirty="0"/>
              <a:t>/SINTA</a:t>
            </a:r>
          </a:p>
        </p:txBody>
      </p:sp>
      <p:pic>
        <p:nvPicPr>
          <p:cNvPr id="3" name="Picture 2" descr="input_fil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589520" cy="431911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138160" y="1143000"/>
            <a:ext cx="3703320" cy="5303520"/>
          </a:xfrm>
          <a:prstGeom prst="roundRect">
            <a:avLst/>
          </a:prstGeom>
          <a:solidFill>
            <a:srgbClr val="F4F7F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112B55"/>
                </a:solidFill>
                <a:latin typeface="Arial"/>
              </a:defRPr>
            </a:pPr>
            <a:r>
              <a:t>Indicadores Clave del Período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Pasajeros de cabotaje: 125,4 millones.</a:t>
            </a:r>
            <a:br/>
            <a:r>
              <a:t>• Factor de ocupación: 82,5%.</a:t>
            </a:r>
            <a:br/>
            <a:r>
              <a:t>• Turistas residentes: 186,9 millones.</a:t>
            </a:r>
            <a:br/>
            <a:r>
              <a:t>• Participación del avión: 5,7%.</a:t>
            </a:r>
            <a:br/>
            <a:br/>
            <a:r>
              <a:t>Concentración por Región:</a:t>
            </a:r>
            <a:br/>
            <a:r>
              <a:t>• AMBA (51,6 mill.) y Patagonia (25,1 mill.) concentran la mayor parte de los pasajeros.</a:t>
            </a:r>
            <a:br/>
            <a:r>
              <a:t>• PBA - Resto (Costa Atlántica y provincia) registra solo 2,3 millones en todo el período.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960120"/>
          </a:xfrm>
          <a:prstGeom prst="rect">
            <a:avLst/>
          </a:prstGeom>
          <a:solidFill>
            <a:srgbClr val="11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¿En </a:t>
            </a:r>
            <a:r>
              <a:rPr dirty="0" err="1"/>
              <a:t>qué</a:t>
            </a:r>
            <a:r>
              <a:rPr dirty="0"/>
              <a:t> meses se </a:t>
            </a:r>
            <a:r>
              <a:rPr dirty="0" err="1"/>
              <a:t>vuela</a:t>
            </a:r>
            <a:r>
              <a:rPr dirty="0"/>
              <a:t>?</a:t>
            </a:r>
          </a:p>
          <a:p>
            <a:pPr>
              <a:defRPr sz="1200">
                <a:solidFill>
                  <a:srgbClr val="C8DCFF"/>
                </a:solidFill>
                <a:latin typeface="Arial"/>
              </a:defRPr>
            </a:pPr>
            <a:r>
              <a:rPr dirty="0"/>
              <a:t>¿La </a:t>
            </a:r>
            <a:r>
              <a:rPr dirty="0" err="1"/>
              <a:t>estacionalidad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pasajeros</a:t>
            </a:r>
            <a:r>
              <a:rPr dirty="0"/>
              <a:t> </a:t>
            </a:r>
            <a:r>
              <a:rPr dirty="0" err="1"/>
              <a:t>aéreos</a:t>
            </a:r>
            <a:r>
              <a:rPr dirty="0"/>
              <a:t> coincide con la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turistas</a:t>
            </a:r>
            <a:r>
              <a:rPr dirty="0"/>
              <a:t>? ¿A </a:t>
            </a:r>
            <a:r>
              <a:rPr dirty="0" err="1"/>
              <a:t>qué</a:t>
            </a:r>
            <a:r>
              <a:rPr dirty="0"/>
              <a:t> regiones </a:t>
            </a:r>
            <a:r>
              <a:rPr dirty="0" err="1"/>
              <a:t>viajan</a:t>
            </a:r>
            <a:r>
              <a:rPr dirty="0"/>
              <a:t>?</a:t>
            </a:r>
          </a:p>
        </p:txBody>
      </p:sp>
      <p:pic>
        <p:nvPicPr>
          <p:cNvPr id="3" name="Picture 2" descr="input_fil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589520" cy="428497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138160" y="1143000"/>
            <a:ext cx="3703320" cy="5303520"/>
          </a:xfrm>
          <a:prstGeom prst="roundRect">
            <a:avLst/>
          </a:prstGeom>
          <a:solidFill>
            <a:srgbClr val="F4F7F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50" b="1">
                <a:solidFill>
                  <a:srgbClr val="112B55"/>
                </a:solidFill>
                <a:latin typeface="Arial"/>
              </a:defRPr>
            </a:pPr>
            <a:r>
              <a:t>Estacionalidad por Provincia y Mes</a:t>
            </a:r>
          </a:p>
          <a:p>
            <a:pPr>
              <a:defRPr sz="1250">
                <a:solidFill>
                  <a:srgbClr val="1E1E1E"/>
                </a:solidFill>
                <a:latin typeface="Arial"/>
              </a:defRPr>
            </a:pPr>
            <a:r>
              <a:t>• El avión es poco estacional a nivel país (CV Mensual = 0,083).</a:t>
            </a:r>
            <a:br/>
            <a:r>
              <a:t>• Si el año fuera parejo, cada mes tendría 8,3% de los pasajeros (100 / 12), y en el país ningún mes pasa de 9,1%.</a:t>
            </a:r>
            <a:br/>
            <a:r>
              <a:t>• Las únicas excepciones son los destinos del sur (Santa Cruz CV 0,33; Río Negro CV 0,26; Tierra del Fuego CV 0,26) y Santiago del Estero (CV 0,24).</a:t>
            </a:r>
            <a:br/>
            <a:r>
              <a:t>• Cómo se calcula: Turistas y pasajeros son unidades distintas, por lo que se compara qué parte del total cae en cada trimestre o región.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Pasajeros</a:t>
            </a:r>
            <a:r>
              <a:rPr dirty="0"/>
              <a:t> </a:t>
            </a:r>
            <a:r>
              <a:rPr dirty="0" err="1"/>
              <a:t>Aéreos</a:t>
            </a:r>
            <a:r>
              <a:rPr dirty="0"/>
              <a:t> vs. </a:t>
            </a:r>
            <a:r>
              <a:rPr dirty="0" err="1"/>
              <a:t>Turistas</a:t>
            </a:r>
            <a:r>
              <a:rPr dirty="0"/>
              <a:t> </a:t>
            </a:r>
            <a:r>
              <a:rPr dirty="0" err="1"/>
              <a:t>Residentes</a:t>
            </a:r>
            <a:endParaRPr dirty="0"/>
          </a:p>
          <a:p>
            <a:pPr>
              <a:defRPr sz="1200">
                <a:solidFill>
                  <a:srgbClr val="C8DCFF"/>
                </a:solidFill>
                <a:latin typeface="Arial"/>
              </a:defRPr>
            </a:pPr>
            <a:r>
              <a:rPr dirty="0" err="1"/>
              <a:t>Aclaración</a:t>
            </a:r>
            <a:r>
              <a:rPr dirty="0"/>
              <a:t>: un </a:t>
            </a:r>
            <a:r>
              <a:rPr dirty="0" err="1"/>
              <a:t>pasajero</a:t>
            </a:r>
            <a:r>
              <a:rPr dirty="0"/>
              <a:t> que </a:t>
            </a:r>
            <a:r>
              <a:rPr dirty="0" err="1"/>
              <a:t>aterriza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Aeroparque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volver</a:t>
            </a:r>
            <a:r>
              <a:rPr dirty="0"/>
              <a:t> a </a:t>
            </a:r>
            <a:r>
              <a:rPr dirty="0" err="1"/>
              <a:t>su</a:t>
            </a:r>
            <a:r>
              <a:rPr dirty="0"/>
              <a:t> casa o </a:t>
            </a:r>
            <a:r>
              <a:rPr dirty="0" err="1"/>
              <a:t>viajar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trabajo</a:t>
            </a:r>
            <a:endParaRPr dirty="0"/>
          </a:p>
        </p:txBody>
      </p:sp>
      <p:pic>
        <p:nvPicPr>
          <p:cNvPr id="3" name="Picture 2" descr="input_fil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040880" cy="396367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143000"/>
            <a:ext cx="4251960" cy="1691640"/>
          </a:xfrm>
          <a:prstGeom prst="roundRect">
            <a:avLst/>
          </a:prstGeom>
          <a:solidFill>
            <a:srgbClr val="D9EAD3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00" b="1">
                <a:solidFill>
                  <a:srgbClr val="112B55"/>
                </a:solidFill>
                <a:latin typeface="Arial"/>
              </a:defRPr>
            </a:pPr>
            <a:r>
              <a:t>HALLAZGO (¿Qué observamos?)</a:t>
            </a:r>
          </a:p>
          <a:p>
            <a:pPr>
              <a:defRPr sz="1200">
                <a:solidFill>
                  <a:srgbClr val="1E1E1E"/>
                </a:solidFill>
                <a:latin typeface="Arial"/>
              </a:defRPr>
            </a:pPr>
            <a:r>
              <a:t>El pico del turismo (en el verano T1 y en la costa / PBA-Resto con 47,5% de sus turistas) es donde el avión menos participa (4,3% en T1 vs. 8,4% en invierno T3).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971800"/>
            <a:ext cx="4251960" cy="1691640"/>
          </a:xfrm>
          <a:prstGeom prst="roundRect">
            <a:avLst/>
          </a:prstGeom>
          <a:solidFill>
            <a:srgbClr val="FFF2C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00" b="1">
                <a:solidFill>
                  <a:srgbClr val="112B55"/>
                </a:solidFill>
                <a:latin typeface="Arial"/>
              </a:defRPr>
            </a:pPr>
            <a:r>
              <a:rPr dirty="0"/>
              <a:t>INTERPRETACIÓN</a:t>
            </a:r>
            <a:endParaRPr lang="es-AR" dirty="0"/>
          </a:p>
          <a:p>
            <a:pPr>
              <a:defRPr sz="1200">
                <a:solidFill>
                  <a:srgbClr val="1E1E1E"/>
                </a:solidFill>
                <a:latin typeface="Arial"/>
              </a:defRPr>
            </a:pPr>
            <a:r>
              <a:rPr lang="es-AR" dirty="0"/>
              <a:t>El turismo interno y la red aérea tienen calendarios y mapas distintos: la distribución temporal y territorial del cabotaje no es uniforme respecto al turismo residente.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4800600"/>
            <a:ext cx="4251960" cy="1691640"/>
          </a:xfrm>
          <a:prstGeom prst="roundRect">
            <a:avLst/>
          </a:prstGeom>
          <a:solidFill>
            <a:srgbClr val="FCE5CD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50" b="1">
                <a:solidFill>
                  <a:srgbClr val="112B55"/>
                </a:solidFill>
                <a:latin typeface="Arial"/>
              </a:defRPr>
            </a:pPr>
            <a:r>
              <a:rPr dirty="0"/>
              <a:t>INSIGHT </a:t>
            </a:r>
            <a:endParaRPr lang="es-AR" dirty="0"/>
          </a:p>
          <a:p>
            <a:pPr>
              <a:defRPr sz="1250">
                <a:solidFill>
                  <a:srgbClr val="1E1E1E"/>
                </a:solidFill>
                <a:latin typeface="Arial"/>
              </a:defRPr>
            </a:pPr>
            <a:r>
              <a:rPr lang="es-AR" dirty="0"/>
              <a:t>El avión no es el medio del turismo interno de verano: lo es de Buenos Aires (51,6 </a:t>
            </a:r>
            <a:r>
              <a:rPr lang="es-AR" dirty="0" err="1"/>
              <a:t>mill</a:t>
            </a:r>
            <a:r>
              <a:rPr lang="es-AR" dirty="0"/>
              <a:t>.) y la Patagonia (25,1 </a:t>
            </a:r>
            <a:r>
              <a:rPr lang="es-AR" dirty="0" err="1"/>
              <a:t>mill</a:t>
            </a:r>
            <a:r>
              <a:rPr lang="es-AR" dirty="0"/>
              <a:t>.).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relacionan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dólar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gasto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viajes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avión</a:t>
            </a:r>
            <a:r>
              <a:rPr dirty="0"/>
              <a:t>?</a:t>
            </a:r>
          </a:p>
          <a:p>
            <a:pPr>
              <a:defRPr sz="1200">
                <a:solidFill>
                  <a:srgbClr val="C8DCFF"/>
                </a:solidFill>
                <a:latin typeface="Arial"/>
              </a:defRPr>
            </a:pPr>
            <a:r>
              <a:rPr dirty="0" err="1"/>
              <a:t>Medida</a:t>
            </a:r>
            <a:r>
              <a:rPr dirty="0"/>
              <a:t> </a:t>
            </a:r>
            <a:r>
              <a:rPr dirty="0" err="1"/>
              <a:t>calculada</a:t>
            </a:r>
            <a:r>
              <a:rPr dirty="0"/>
              <a:t>: </a:t>
            </a:r>
            <a:r>
              <a:rPr dirty="0" err="1"/>
              <a:t>gasto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turista (</a:t>
            </a:r>
            <a:r>
              <a:rPr dirty="0" err="1"/>
              <a:t>usd</a:t>
            </a:r>
            <a:r>
              <a:rPr dirty="0"/>
              <a:t>) = </a:t>
            </a:r>
            <a:r>
              <a:rPr dirty="0" err="1"/>
              <a:t>gasto</a:t>
            </a:r>
            <a:r>
              <a:rPr dirty="0"/>
              <a:t> trimestral al </a:t>
            </a:r>
            <a:r>
              <a:rPr dirty="0" err="1"/>
              <a:t>dólar</a:t>
            </a:r>
            <a:r>
              <a:rPr dirty="0"/>
              <a:t> </a:t>
            </a:r>
            <a:r>
              <a:rPr dirty="0" err="1"/>
              <a:t>promedio</a:t>
            </a:r>
            <a:r>
              <a:rPr dirty="0"/>
              <a:t> </a:t>
            </a:r>
            <a:r>
              <a:rPr dirty="0" err="1"/>
              <a:t>dividido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turistas</a:t>
            </a:r>
            <a:endParaRPr dirty="0"/>
          </a:p>
        </p:txBody>
      </p:sp>
      <p:pic>
        <p:nvPicPr>
          <p:cNvPr id="3" name="Picture 2" descr="input_fil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040880" cy="39636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143000"/>
            <a:ext cx="4251960" cy="1965960"/>
          </a:xfrm>
          <a:prstGeom prst="roundRect">
            <a:avLst/>
          </a:prstGeom>
          <a:solidFill>
            <a:srgbClr val="D9EAD3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200" b="1">
                <a:solidFill>
                  <a:srgbClr val="112B55"/>
                </a:solidFill>
                <a:latin typeface="Arial"/>
              </a:defRPr>
            </a:pPr>
            <a:r>
              <a:rPr dirty="0"/>
              <a:t>HALLAZGO </a:t>
            </a:r>
            <a:endParaRPr lang="es-AR" dirty="0"/>
          </a:p>
          <a:p>
            <a:pPr>
              <a:defRPr sz="1100">
                <a:solidFill>
                  <a:srgbClr val="1E1E1E"/>
                </a:solidFill>
                <a:latin typeface="Arial"/>
              </a:defRPr>
            </a:pPr>
            <a:r>
              <a:rPr lang="es-AR" dirty="0"/>
              <a:t>Los saltos del dólar (+70% en 2018, +72% en 2019, +127% en 2023 y +209% en 2024) coinciden con caídas del gasto por turista en USD (−37% de 204 a 129 USD; y −50% de 198 a 99 USD), no con caídas de pasajeros (+12,4% en 2018, +13,0% en 2019 y récord de 17,3 </a:t>
            </a:r>
            <a:r>
              <a:rPr lang="es-AR" dirty="0" err="1"/>
              <a:t>mill</a:t>
            </a:r>
            <a:r>
              <a:rPr lang="es-AR" dirty="0"/>
              <a:t>. en 2025).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3246120"/>
            <a:ext cx="4251960" cy="1508760"/>
          </a:xfrm>
          <a:prstGeom prst="roundRect">
            <a:avLst/>
          </a:prstGeom>
          <a:solidFill>
            <a:srgbClr val="FFF2C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250" b="1">
                <a:solidFill>
                  <a:srgbClr val="112B55"/>
                </a:solidFill>
                <a:latin typeface="Arial"/>
              </a:defRPr>
            </a:pPr>
            <a:r>
              <a:rPr dirty="0"/>
              <a:t>INTERPRETACIÓN </a:t>
            </a:r>
          </a:p>
          <a:p>
            <a:pPr>
              <a:defRPr sz="1150">
                <a:solidFill>
                  <a:srgbClr val="1E1E1E"/>
                </a:solidFill>
                <a:latin typeface="Arial"/>
              </a:defRPr>
            </a:pPr>
            <a:r>
              <a:rPr dirty="0"/>
              <a:t>El </a:t>
            </a:r>
            <a:r>
              <a:rPr dirty="0" err="1"/>
              <a:t>dólar</a:t>
            </a:r>
            <a:r>
              <a:rPr dirty="0"/>
              <a:t> cambia </a:t>
            </a:r>
            <a:r>
              <a:rPr dirty="0" err="1"/>
              <a:t>cuánto</a:t>
            </a:r>
            <a:r>
              <a:rPr dirty="0"/>
              <a:t> </a:t>
            </a:r>
            <a:r>
              <a:rPr dirty="0" err="1"/>
              <a:t>rinde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gasto</a:t>
            </a:r>
            <a:r>
              <a:rPr dirty="0"/>
              <a:t> del turista </a:t>
            </a:r>
            <a:r>
              <a:rPr dirty="0" err="1"/>
              <a:t>medido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dólares</a:t>
            </a:r>
            <a:r>
              <a:rPr dirty="0"/>
              <a:t>;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solo no </a:t>
            </a:r>
            <a:r>
              <a:rPr dirty="0" err="1"/>
              <a:t>alcanza</a:t>
            </a:r>
            <a:r>
              <a:rPr dirty="0"/>
              <a:t> para </a:t>
            </a:r>
            <a:r>
              <a:rPr dirty="0" err="1"/>
              <a:t>explicar</a:t>
            </a:r>
            <a:r>
              <a:rPr dirty="0"/>
              <a:t> </a:t>
            </a:r>
            <a:r>
              <a:rPr dirty="0" err="1"/>
              <a:t>cuánto</a:t>
            </a:r>
            <a:r>
              <a:rPr dirty="0"/>
              <a:t> se </a:t>
            </a:r>
            <a:r>
              <a:rPr dirty="0" err="1"/>
              <a:t>vuela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4892040"/>
            <a:ext cx="4251960" cy="1600200"/>
          </a:xfrm>
          <a:prstGeom prst="roundRect">
            <a:avLst/>
          </a:prstGeom>
          <a:solidFill>
            <a:srgbClr val="FCE5CD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00" b="1">
                <a:solidFill>
                  <a:srgbClr val="112B55"/>
                </a:solidFill>
                <a:latin typeface="Arial"/>
              </a:defRPr>
            </a:pPr>
            <a:r>
              <a:rPr dirty="0"/>
              <a:t>INSIGHT </a:t>
            </a:r>
          </a:p>
          <a:p>
            <a:pPr>
              <a:defRPr sz="1200">
                <a:solidFill>
                  <a:srgbClr val="1E1E1E"/>
                </a:solidFill>
                <a:latin typeface="Arial"/>
              </a:defRPr>
            </a:pPr>
            <a:r>
              <a:rPr dirty="0"/>
              <a:t>Para </a:t>
            </a:r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avión</a:t>
            </a:r>
            <a:r>
              <a:rPr dirty="0"/>
              <a:t> hay que </a:t>
            </a:r>
            <a:r>
              <a:rPr dirty="0" err="1"/>
              <a:t>mirar</a:t>
            </a:r>
            <a:r>
              <a:rPr dirty="0"/>
              <a:t> la red y la </a:t>
            </a:r>
            <a:r>
              <a:rPr dirty="0" err="1"/>
              <a:t>conectividad</a:t>
            </a:r>
            <a:r>
              <a:rPr dirty="0"/>
              <a:t>, no solo la </a:t>
            </a:r>
            <a:r>
              <a:rPr dirty="0" err="1"/>
              <a:t>economía</a:t>
            </a:r>
            <a:r>
              <a:rPr dirty="0"/>
              <a:t> (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rutas</a:t>
            </a:r>
            <a:r>
              <a:rPr dirty="0"/>
              <a:t> </a:t>
            </a:r>
            <a:r>
              <a:rPr dirty="0" err="1"/>
              <a:t>existen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dónde</a:t>
            </a:r>
            <a:r>
              <a:rPr dirty="0"/>
              <a:t> </a:t>
            </a:r>
            <a:r>
              <a:rPr dirty="0" err="1"/>
              <a:t>pasan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vuelos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conecta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país</a:t>
            </a:r>
            <a:r>
              <a:rPr dirty="0"/>
              <a:t>?</a:t>
            </a:r>
          </a:p>
          <a:p>
            <a:pPr>
              <a:defRPr sz="1200">
                <a:solidFill>
                  <a:srgbClr val="C8DCFF"/>
                </a:solidFill>
                <a:latin typeface="Arial"/>
              </a:defRPr>
            </a:pPr>
            <a:r>
              <a:rPr dirty="0" err="1"/>
              <a:t>Columna</a:t>
            </a:r>
            <a:r>
              <a:rPr dirty="0"/>
              <a:t> '</a:t>
            </a:r>
            <a:r>
              <a:rPr dirty="0" err="1"/>
              <a:t>conexión</a:t>
            </a:r>
            <a:r>
              <a:rPr dirty="0"/>
              <a:t>'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fact_vuelos_mensual</a:t>
            </a:r>
            <a:r>
              <a:rPr dirty="0"/>
              <a:t>: Vía Buenos Aires (AMBA) vs. Entre </a:t>
            </a:r>
            <a:r>
              <a:rPr dirty="0" err="1"/>
              <a:t>provincias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6949440" cy="2834640"/>
          </a:xfrm>
          <a:prstGeom prst="roundRect">
            <a:avLst/>
          </a:prstGeom>
          <a:solidFill>
            <a:srgbClr val="F4F7F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112B55"/>
                </a:solidFill>
                <a:latin typeface="Arial"/>
              </a:defRPr>
            </a:pPr>
            <a:r>
              <a:t>Resultados Observados (2017–2025 y Año Récord 2025)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• En 2025, el año récord (17,3 mill.), 91 de cada 100 pasajeros de cabotaje (91,2%) salieron o llegaron a Buenos Aires.</a:t>
            </a:r>
            <a:br/>
            <a:r>
              <a:t>• El peso de las rutas entre provincias estuvo entre 10,1% y 11,8% de 2017 a 2024 y bajó a 8,8% en 2025, su mínimo de la serie.</a:t>
            </a:r>
            <a:br/>
            <a:r>
              <a:t>• Entre 2024 y 2025, los vuelos vía Buenos Aires crecieron +12,2% y los vuelos entre provincias cayeron −13,8%.</a:t>
            </a:r>
            <a:br/>
            <a:r>
              <a:t>• El interior voló más al exterior que a otras provincias.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143000"/>
            <a:ext cx="4251960" cy="1691640"/>
          </a:xfrm>
          <a:prstGeom prst="roundRect">
            <a:avLst/>
          </a:prstGeom>
          <a:solidFill>
            <a:srgbClr val="D9EAD3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00" b="1">
                <a:solidFill>
                  <a:srgbClr val="112B55"/>
                </a:solidFill>
                <a:latin typeface="Arial"/>
              </a:defRPr>
            </a:pPr>
            <a:r>
              <a:rPr dirty="0"/>
              <a:t>HALLAZGO </a:t>
            </a:r>
          </a:p>
          <a:p>
            <a:pPr>
              <a:defRPr sz="1200">
                <a:solidFill>
                  <a:srgbClr val="1E1E1E"/>
                </a:solidFill>
                <a:latin typeface="Arial"/>
              </a:defRPr>
            </a:pPr>
            <a:r>
              <a:rPr dirty="0"/>
              <a:t>El peso de las </a:t>
            </a:r>
            <a:r>
              <a:rPr dirty="0" err="1"/>
              <a:t>rutas</a:t>
            </a:r>
            <a:r>
              <a:rPr dirty="0"/>
              <a:t> entre </a:t>
            </a:r>
            <a:r>
              <a:rPr dirty="0" err="1"/>
              <a:t>provincias</a:t>
            </a:r>
            <a:r>
              <a:rPr dirty="0"/>
              <a:t> </a:t>
            </a:r>
            <a:r>
              <a:rPr dirty="0" err="1"/>
              <a:t>cayó</a:t>
            </a:r>
            <a:r>
              <a:rPr dirty="0"/>
              <a:t> 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mínimo</a:t>
            </a:r>
            <a:r>
              <a:rPr dirty="0"/>
              <a:t> (8,8%)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año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que </a:t>
            </a:r>
            <a:r>
              <a:rPr dirty="0" err="1"/>
              <a:t>el</a:t>
            </a:r>
            <a:r>
              <a:rPr dirty="0"/>
              <a:t> total de </a:t>
            </a:r>
            <a:r>
              <a:rPr dirty="0" err="1"/>
              <a:t>pasajeros</a:t>
            </a:r>
            <a:r>
              <a:rPr dirty="0"/>
              <a:t> </a:t>
            </a:r>
            <a:r>
              <a:rPr dirty="0" err="1"/>
              <a:t>llegó</a:t>
            </a:r>
            <a:r>
              <a:rPr dirty="0"/>
              <a:t> 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máximo</a:t>
            </a:r>
            <a:r>
              <a:rPr dirty="0"/>
              <a:t> (2025).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971800"/>
            <a:ext cx="4251960" cy="1691640"/>
          </a:xfrm>
          <a:prstGeom prst="roundRect">
            <a:avLst/>
          </a:prstGeom>
          <a:solidFill>
            <a:srgbClr val="FFF2C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00" b="1">
                <a:solidFill>
                  <a:srgbClr val="112B55"/>
                </a:solidFill>
                <a:latin typeface="Arial"/>
              </a:defRPr>
            </a:pPr>
            <a:r>
              <a:rPr dirty="0"/>
              <a:t>INTERPRETACIÓN</a:t>
            </a:r>
            <a:endParaRPr lang="es-AR" dirty="0"/>
          </a:p>
          <a:p>
            <a:pPr>
              <a:defRPr sz="1200">
                <a:solidFill>
                  <a:srgbClr val="1E1E1E"/>
                </a:solidFill>
                <a:latin typeface="Arial"/>
              </a:defRPr>
            </a:pPr>
            <a:r>
              <a:rPr lang="es-AR" dirty="0"/>
              <a:t>El crecimiento de 2025 se apoyó en Buenos Aires (+12,2%) y en los vuelos al exterior; la conexión directa entre provincias se redujo (−13,8%).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800600"/>
            <a:ext cx="4251960" cy="1691640"/>
          </a:xfrm>
          <a:prstGeom prst="roundRect">
            <a:avLst/>
          </a:prstGeom>
          <a:solidFill>
            <a:srgbClr val="FCE5CD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112B55"/>
                </a:solidFill>
                <a:latin typeface="Arial"/>
              </a:defRPr>
            </a:pPr>
            <a:r>
              <a:rPr dirty="0"/>
              <a:t>INSIGHT 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rPr dirty="0"/>
              <a:t>El total de </a:t>
            </a:r>
            <a:r>
              <a:rPr dirty="0" err="1"/>
              <a:t>pasajeros</a:t>
            </a:r>
            <a:r>
              <a:rPr dirty="0"/>
              <a:t> no </a:t>
            </a:r>
            <a:r>
              <a:rPr dirty="0" err="1"/>
              <a:t>alcanza</a:t>
            </a:r>
            <a:r>
              <a:rPr dirty="0"/>
              <a:t> para </a:t>
            </a:r>
            <a:r>
              <a:rPr dirty="0" err="1"/>
              <a:t>medir</a:t>
            </a:r>
            <a:r>
              <a:rPr dirty="0"/>
              <a:t> la </a:t>
            </a:r>
            <a:r>
              <a:rPr dirty="0" err="1"/>
              <a:t>conectividad</a:t>
            </a:r>
            <a:r>
              <a:rPr dirty="0"/>
              <a:t> del </a:t>
            </a:r>
            <a:r>
              <a:rPr dirty="0" err="1"/>
              <a:t>país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Síntesis</a:t>
            </a:r>
            <a:r>
              <a:rPr dirty="0"/>
              <a:t> del Sprint 2: Del Dato al Insight</a:t>
            </a:r>
          </a:p>
          <a:p>
            <a:pPr>
              <a:defRPr sz="1200">
                <a:solidFill>
                  <a:srgbClr val="C8DCFF"/>
                </a:solidFill>
                <a:latin typeface="Arial"/>
              </a:defRPr>
            </a:pPr>
            <a:r>
              <a:rPr dirty="0" err="1"/>
              <a:t>Recorrido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las 3 </a:t>
            </a:r>
            <a:r>
              <a:rPr dirty="0" err="1"/>
              <a:t>preguntas</a:t>
            </a:r>
            <a:r>
              <a:rPr dirty="0"/>
              <a:t> de </a:t>
            </a:r>
            <a:r>
              <a:rPr dirty="0" err="1"/>
              <a:t>análisis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4552" cy="1645920"/>
          </a:xfrm>
          <a:prstGeom prst="roundRect">
            <a:avLst/>
          </a:prstGeom>
          <a:solidFill>
            <a:srgbClr val="F4F7F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50" b="1">
                <a:solidFill>
                  <a:srgbClr val="112B55"/>
                </a:solidFill>
                <a:latin typeface="Arial"/>
              </a:defRPr>
            </a:pPr>
            <a:r>
              <a:t>1. ¿La estacionalidad de los pasajeros aéreos coincide con la de los turistas? ¿A qué regiones viajan?</a:t>
            </a:r>
          </a:p>
          <a:p>
            <a:pPr>
              <a:defRPr sz="1250">
                <a:solidFill>
                  <a:srgbClr val="1E1E1E"/>
                </a:solidFill>
                <a:latin typeface="Arial"/>
              </a:defRPr>
            </a:pPr>
            <a:r>
              <a:t>• Hallazgo: El pico del turismo (en el verano y en la costa) es donde el avión menos participa (4,3% en T1).</a:t>
            </a:r>
            <a:br/>
            <a:r>
              <a:t>• Interpretación: El turismo interno y la red aérea tienen calendarios y mapas distintos.</a:t>
            </a:r>
            <a:br/>
            <a:r>
              <a:t>• Insight: El avión no es el medio del turismo interno de verano: lo es de Buenos Aires (51,6 mill.) y la Patagonia (25,1 mill.).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017520"/>
            <a:ext cx="11274552" cy="1645920"/>
          </a:xfrm>
          <a:prstGeom prst="roundRect">
            <a:avLst/>
          </a:prstGeom>
          <a:solidFill>
            <a:srgbClr val="F4F7F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50" b="1">
                <a:solidFill>
                  <a:srgbClr val="112B55"/>
                </a:solidFill>
                <a:latin typeface="Arial"/>
              </a:defRPr>
            </a:pPr>
            <a:r>
              <a:t>2. ¿Cómo se relacionan el dólar, el gasto de los turistas y los viajes en avión?</a:t>
            </a:r>
          </a:p>
          <a:p>
            <a:pPr>
              <a:defRPr sz="1250">
                <a:solidFill>
                  <a:srgbClr val="1E1E1E"/>
                </a:solidFill>
                <a:latin typeface="Arial"/>
              </a:defRPr>
            </a:pPr>
            <a:r>
              <a:t>• Hallazgo: Los saltos del dólar coinciden con caídas del gasto en dólares (−37% y −50%), no con caídas de pasajeros (récord de 17,3 mill. en 2025).</a:t>
            </a:r>
            <a:br/>
            <a:r>
              <a:t>• Interpretación: El dólar cambia cuánto rinde el gasto del turista; no alcanza para explicar cuánto se vuela.</a:t>
            </a:r>
            <a:br/>
            <a:r>
              <a:t>• Insight: Para entender el avión hay que mirar la red y la conectividad, no solo la economía (qué rutas existen y por dónde pasan los vuelos).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20"/>
            <a:ext cx="11274552" cy="1645920"/>
          </a:xfrm>
          <a:prstGeom prst="roundRect">
            <a:avLst/>
          </a:prstGeom>
          <a:solidFill>
            <a:srgbClr val="F4F7F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350" b="1">
                <a:solidFill>
                  <a:srgbClr val="112B55"/>
                </a:solidFill>
                <a:latin typeface="Arial"/>
              </a:defRPr>
            </a:pPr>
            <a:r>
              <a:t>3. ¿Cómo se conecta el país?</a:t>
            </a:r>
          </a:p>
          <a:p>
            <a:pPr>
              <a:defRPr sz="1250">
                <a:solidFill>
                  <a:srgbClr val="1E1E1E"/>
                </a:solidFill>
                <a:latin typeface="Arial"/>
              </a:defRPr>
            </a:pPr>
            <a:r>
              <a:t>• Hallazgo: El peso de las rutas entre provincias cayó a su mínimo (8,8%) el año en que el total llegó a su máximo (91,2% vía Buenos Aires).</a:t>
            </a:r>
            <a:br/>
            <a:r>
              <a:t>• Interpretación: El crecimiento de 2025 se apoyó en Buenos Aires (+12,2%) y en los vuelos al exterior; la conexión directa entre provincias se redujo (−13,8%).</a:t>
            </a:r>
            <a:br/>
            <a:r>
              <a:t>• Insight: El total de pasajeros no alcanza para medir la conectividad del país.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1194</Words>
  <Application>Microsoft Office PowerPoint</Application>
  <PresentationFormat>Panorámica</PresentationFormat>
  <Paragraphs>45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omen 16</dc:creator>
  <cp:keywords/>
  <dc:description>generated using python-pptx</dc:description>
  <cp:lastModifiedBy>william naufamer</cp:lastModifiedBy>
  <cp:revision>4</cp:revision>
  <dcterms:created xsi:type="dcterms:W3CDTF">2013-01-27T09:14:16Z</dcterms:created>
  <dcterms:modified xsi:type="dcterms:W3CDTF">2026-10-26T00:58:49Z</dcterms:modified>
  <cp:category/>
</cp:coreProperties>
</file>